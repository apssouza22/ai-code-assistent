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9"/>
    <p:restoredTop sz="94610"/>
  </p:normalViewPr>
  <p:slideViewPr>
    <p:cSldViewPr snapToGrid="0" snapToObjects="1">
      <p:cViewPr varScale="1">
        <p:scale>
          <a:sx n="287" d="100"/>
          <a:sy n="287" d="100"/>
        </p:scale>
        <p:origin x="4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68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949" y="2400449"/>
            <a:ext cx="2616101" cy="2616101"/>
          </a:xfrm>
          <a:prstGeom prst="roundRect">
            <a:avLst>
              <a:gd name="adj" fmla="val 34953"/>
            </a:avLst>
          </a:prstGeom>
          <a:noFill/>
          <a:ln w="38100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03999" y="126950"/>
            <a:ext cx="1562100" cy="1562100"/>
          </a:xfrm>
          <a:prstGeom prst="roundRect">
            <a:avLst>
              <a:gd name="adj" fmla="val 58537"/>
            </a:avLst>
          </a:prstGeom>
          <a:noFill/>
          <a:ln w="19050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511052"/>
            <a:ext cx="6255871" cy="1036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80"/>
              </a:lnSpc>
              <a:spcAft>
                <a:spcPts val="12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AI Code Assistant</a:t>
            </a:r>
            <a:endParaRPr lang="en-US" sz="3400" dirty="0"/>
          </a:p>
          <a:p>
            <a:pPr marL="0" indent="0" algn="l">
              <a:lnSpc>
                <a:spcPts val="4080"/>
              </a:lnSpc>
              <a:spcAft>
                <a:spcPts val="12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Multi-Agents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7950" y="2699593"/>
            <a:ext cx="6217920" cy="74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3000"/>
              </a:spcAft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build a multi-agent system where an orchestrator coordinates specialized subagents to tackle complex software engineering tasks through strategic delegation.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4026247"/>
            <a:ext cx="1321147" cy="253901"/>
          </a:xfrm>
          <a:prstGeom prst="roundRect">
            <a:avLst>
              <a:gd name="adj" fmla="val 20008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4086523"/>
            <a:ext cx="1069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30598" y="4026247"/>
            <a:ext cx="1213247" cy="253901"/>
          </a:xfrm>
          <a:prstGeom prst="roundRect">
            <a:avLst>
              <a:gd name="adj" fmla="val 20008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67074" y="4086523"/>
            <a:ext cx="959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Orchestration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45346" y="4026247"/>
            <a:ext cx="628799" cy="253901"/>
          </a:xfrm>
          <a:prstGeom prst="roundRect">
            <a:avLst>
              <a:gd name="adj" fmla="val 20008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81821" y="4086523"/>
            <a:ext cx="362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75645" y="4026247"/>
            <a:ext cx="995043" cy="253901"/>
          </a:xfrm>
          <a:prstGeom prst="roundRect">
            <a:avLst>
              <a:gd name="adj" fmla="val 20008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12120" y="4086523"/>
            <a:ext cx="8585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81000"/>
            <a:ext cx="80313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Multi-Agents Architecture?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930176"/>
            <a:ext cx="803137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 are an advanced agent architecture designed for complex, multi-step tasks requiring sustained reasoning, tool use, and memory. They power real-world apps like Claude Code, Deep Research, and Manus.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406790"/>
            <a:ext cx="4133552" cy="818555"/>
          </a:xfrm>
          <a:prstGeom prst="roundRect">
            <a:avLst>
              <a:gd name="adj" fmla="val 124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127" y="1583583"/>
            <a:ext cx="38342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127" y="1748485"/>
            <a:ext cx="3834283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Strategically decompose complex tasks into manageable subtasks with clear dependencies.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2352295"/>
            <a:ext cx="4133552" cy="818555"/>
          </a:xfrm>
          <a:prstGeom prst="roundRect">
            <a:avLst>
              <a:gd name="adj" fmla="val 124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127" y="2529088"/>
            <a:ext cx="38342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Context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127" y="2693990"/>
            <a:ext cx="3834283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evolving state across long interactions with persistent knowledge stores.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3297800"/>
            <a:ext cx="4133552" cy="818555"/>
          </a:xfrm>
          <a:prstGeom prst="roundRect">
            <a:avLst>
              <a:gd name="adj" fmla="val 124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127" y="3474593"/>
            <a:ext cx="38342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to Specialists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127" y="3639495"/>
            <a:ext cx="3834283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specialized sub-agents for exploration, coding, and verification tasks.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4901" y="4243305"/>
            <a:ext cx="4133552" cy="818555"/>
          </a:xfrm>
          <a:prstGeom prst="roundRect">
            <a:avLst>
              <a:gd name="adj" fmla="val 1241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127" y="4420098"/>
            <a:ext cx="383428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Knowledge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127" y="4585000"/>
            <a:ext cx="3834283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compound intelligence where every discovery becomes a permanent building block.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0313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993725"/>
            <a:ext cx="762000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34781" y="2186558"/>
            <a:ext cx="1070614" cy="35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4901" y="1196773"/>
            <a:ext cx="7924302" cy="862161"/>
          </a:xfrm>
          <a:prstGeom prst="roundRect">
            <a:avLst>
              <a:gd name="adj" fmla="val 11784"/>
            </a:avLst>
          </a:prstGeom>
          <a:solidFill>
            <a:srgbClr val="B165FB">
              <a:alpha val="20000"/>
            </a:srgbClr>
          </a:solidFill>
          <a:ln w="19050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3863" y="1368223"/>
            <a:ext cx="218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43863" y="1590424"/>
            <a:ext cx="218932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brain. No direct code access. Plans, delegates, verifies.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0059" y="3998050"/>
            <a:ext cx="7560526" cy="843111"/>
          </a:xfrm>
          <a:prstGeom prst="roundRect">
            <a:avLst>
              <a:gd name="adj" fmla="val 1205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45587" y="4210969"/>
            <a:ext cx="20725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Storage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5587" y="4433170"/>
            <a:ext cx="207258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knowledge base shared across all agents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20389" y="2595713"/>
            <a:ext cx="2539901" cy="843111"/>
          </a:xfrm>
          <a:prstGeom prst="roundRect">
            <a:avLst>
              <a:gd name="adj" fmla="val 12051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85960" y="2757638"/>
            <a:ext cx="22087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85960" y="2979839"/>
            <a:ext cx="220875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investigation. Finds patterns, runs tests, reports findings.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73124" y="3050230"/>
            <a:ext cx="220875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write access. Implements features, fixes bugs, modifies code.</a:t>
            </a:r>
            <a:endParaRPr lang="en-US" sz="900" dirty="0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5628A439-081C-F924-0751-B3F0048B8202}"/>
              </a:ext>
            </a:extLst>
          </p:cNvPr>
          <p:cNvSpPr/>
          <p:nvPr/>
        </p:nvSpPr>
        <p:spPr>
          <a:xfrm>
            <a:off x="2032099" y="2595713"/>
            <a:ext cx="2539901" cy="843111"/>
          </a:xfrm>
          <a:prstGeom prst="roundRect">
            <a:avLst>
              <a:gd name="adj" fmla="val 12051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0F3AF5CC-B11D-7FF3-B3FD-8EB56255F85A}"/>
              </a:ext>
            </a:extLst>
          </p:cNvPr>
          <p:cNvSpPr/>
          <p:nvPr/>
        </p:nvSpPr>
        <p:spPr>
          <a:xfrm>
            <a:off x="2197670" y="2757638"/>
            <a:ext cx="22087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Agent</a:t>
            </a: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BD37B6A0-B75F-5356-5A44-0DCDD5F1159A}"/>
              </a:ext>
            </a:extLst>
          </p:cNvPr>
          <p:cNvSpPr/>
          <p:nvPr/>
        </p:nvSpPr>
        <p:spPr>
          <a:xfrm>
            <a:off x="5733190" y="2194657"/>
            <a:ext cx="1070614" cy="35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020E0844-34CB-646C-CF56-8FA324F38352}"/>
              </a:ext>
            </a:extLst>
          </p:cNvPr>
          <p:cNvSpPr/>
          <p:nvPr/>
        </p:nvSpPr>
        <p:spPr>
          <a:xfrm>
            <a:off x="5655032" y="3497913"/>
            <a:ext cx="1070614" cy="35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6C54C48-5E92-6C59-2193-5403524F7003}"/>
              </a:ext>
            </a:extLst>
          </p:cNvPr>
          <p:cNvSpPr/>
          <p:nvPr/>
        </p:nvSpPr>
        <p:spPr>
          <a:xfrm>
            <a:off x="2766742" y="3479657"/>
            <a:ext cx="1070614" cy="35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40C8CDE3-8974-962D-9683-E4BC0932F9BB}"/>
              </a:ext>
            </a:extLst>
          </p:cNvPr>
          <p:cNvSpPr/>
          <p:nvPr/>
        </p:nvSpPr>
        <p:spPr>
          <a:xfrm>
            <a:off x="480594" y="2571750"/>
            <a:ext cx="1070614" cy="62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2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5550"/>
            <a:ext cx="80313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762000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42826"/>
            <a:ext cx="3682901" cy="736104"/>
          </a:xfrm>
          <a:prstGeom prst="rect">
            <a:avLst/>
          </a:prstGeom>
          <a:solidFill>
            <a:srgbClr val="B165FB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8713" y="942826"/>
            <a:ext cx="0" cy="736104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4926" y="1044327"/>
            <a:ext cx="3397085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Orchestrator has NO direct code access. This forces proper task decomposition and strategic thinking.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1805880"/>
            <a:ext cx="37565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053530"/>
            <a:ext cx="3682901" cy="113168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complex tasks and creates strategic plans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Decomposes work into subtasks for specialized agents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the Context Store (knowledge base)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all tasks via the Task Store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work through Explorer agents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the full task lifecycle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4901" y="3286720"/>
            <a:ext cx="37565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3534370"/>
            <a:ext cx="3682901" cy="74175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user message with session history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LLM through middleware pipeline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and execute actions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turn and update state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22602" y="942826"/>
            <a:ext cx="37565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Execution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2602" y="1190476"/>
            <a:ext cx="3682901" cy="1618059"/>
          </a:xfrm>
          <a:prstGeom prst="roundRect">
            <a:avLst>
              <a:gd name="adj" fmla="val 4709"/>
            </a:avLst>
          </a:prstGeom>
          <a:solidFill>
            <a:srgbClr val="0D0F14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59077" y="1301502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OrchestratorAgent(Agent):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9077" y="1441103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_core_turn(self, ctx):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9077" y="1580704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msg = session_history.to_prompt()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08481" y="1720304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llm_resp = _get_llm_response(msg)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08481" y="1859905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handle_llm_response(llm_resp)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08481" y="1999506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turn_history.add_turn(turn)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01012" y="2132707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run_task(self, task, max_turns):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08481" y="2278707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 done and turns &lt; max: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108481" y="2418308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_handle_turn(...)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08481" y="2557909"/>
            <a:ext cx="34781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result['done']: break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22602" y="2986236"/>
            <a:ext cx="37565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22602" y="3233886"/>
            <a:ext cx="3682901" cy="66555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SessionHistory</a:t>
            </a: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aggregates task store, context store, and turn history into a single prompt</a:t>
            </a:r>
            <a:endParaRPr lang="en-US" sz="950" dirty="0"/>
          </a:p>
          <a:p>
            <a:pPr marL="101600" indent="-101600" algn="l">
              <a:lnSpc>
                <a:spcPts val="1235"/>
              </a:lnSpc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TurnHistory</a:t>
            </a: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records every LLM call, actions, and environment responses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5550"/>
            <a:ext cx="80313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Subagents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777776"/>
            <a:ext cx="762000" cy="24259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928985"/>
            <a:ext cx="3784550" cy="3858964"/>
          </a:xfrm>
          <a:prstGeom prst="roundRect">
            <a:avLst>
              <a:gd name="adj" fmla="val 3356"/>
            </a:avLst>
          </a:prstGeom>
          <a:solidFill>
            <a:srgbClr val="40695B">
              <a:alpha val="12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127" y="1116211"/>
            <a:ext cx="34783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127" y="1433661"/>
            <a:ext cx="1373832" cy="209550"/>
          </a:xfrm>
          <a:prstGeom prst="roundRect">
            <a:avLst>
              <a:gd name="adj" fmla="val 24242"/>
            </a:avLst>
          </a:prstGeom>
          <a:solidFill>
            <a:srgbClr val="40695B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23627" y="1471761"/>
            <a:ext cx="11942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ACCESS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127" y="1948011"/>
            <a:ext cx="3478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127" y="2195661"/>
            <a:ext cx="3410099" cy="9010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files, search with grep/glob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bash commands (read-only)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and gather information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system behavior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127" y="3223617"/>
            <a:ext cx="3410099" cy="126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127" y="3388668"/>
            <a:ext cx="3478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127" y="3636318"/>
            <a:ext cx="3410099" cy="9010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existing code patterns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implementations after coding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knowledge artifacts for Context Store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findings back to Orchestrator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24251" y="928985"/>
            <a:ext cx="3784550" cy="3858964"/>
          </a:xfrm>
          <a:prstGeom prst="roundRect">
            <a:avLst>
              <a:gd name="adj" fmla="val 3356"/>
            </a:avLst>
          </a:prstGeom>
          <a:solidFill>
            <a:srgbClr val="B165FB">
              <a:alpha val="8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1477" y="1116211"/>
            <a:ext cx="34783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Agent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11477" y="1433661"/>
            <a:ext cx="1396901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12978" y="1471761"/>
            <a:ext cx="1217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WRITE ACCESS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11477" y="1948011"/>
            <a:ext cx="3478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1477" y="2195661"/>
            <a:ext cx="3410099" cy="9010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Read, write, and edit files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bash commands (full access)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Multi-edit operations on single files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temporary scripts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1477" y="3223617"/>
            <a:ext cx="3410099" cy="1265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1477" y="3388668"/>
            <a:ext cx="3478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1477" y="3636318"/>
            <a:ext cx="3410099" cy="9010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new features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bugs and refactor code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code modifications with context</a:t>
            </a:r>
            <a:endParaRPr lang="en-US" sz="1000" dirty="0"/>
          </a:p>
          <a:p>
            <a:pPr marL="101600" indent="-101600" algn="l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changes back with artifacts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5550"/>
            <a:ext cx="803137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Store &amp; Knowledge Sharing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879277"/>
            <a:ext cx="803137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Store is the persistent knowledge base that enables compound intelligence. Every agent discovery becomes a permanent building block for future tasks.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397347"/>
            <a:ext cx="476250" cy="476250"/>
          </a:xfrm>
          <a:prstGeom prst="roundRect">
            <a:avLst>
              <a:gd name="adj" fmla="val 21333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3643" y="1516410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8101" y="1397347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Accumulation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101" y="1606897"/>
            <a:ext cx="3400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discovery from explorers and coders is stored as a context artifact with ID, content, and source tracking.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2089249"/>
            <a:ext cx="476250" cy="476250"/>
          </a:xfrm>
          <a:prstGeom prst="roundRect">
            <a:avLst>
              <a:gd name="adj" fmla="val 21333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6471" y="2208312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8101" y="2089249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Redundant 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8101" y="2298799"/>
            <a:ext cx="3400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reference existing contexts before starting work. No information is rediscovered twice.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4901" y="2781151"/>
            <a:ext cx="476250" cy="476250"/>
          </a:xfrm>
          <a:prstGeom prst="roundRect">
            <a:avLst>
              <a:gd name="adj" fmla="val 21333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3643" y="2900214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8101" y="2781151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8101" y="2990701"/>
            <a:ext cx="3400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subagent receives only the context refs it needs, keeping prompts lean and focused.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4901" y="3473053"/>
            <a:ext cx="476250" cy="476250"/>
          </a:xfrm>
          <a:prstGeom prst="roundRect">
            <a:avLst>
              <a:gd name="adj" fmla="val 21333"/>
            </a:avLst>
          </a:prstGeom>
          <a:solidFill>
            <a:srgbClr val="B165FB">
              <a:alpha val="15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127" y="3592116"/>
            <a:ext cx="1036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8101" y="3473053"/>
            <a:ext cx="3400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8101" y="3682603"/>
            <a:ext cx="340042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problem-solving through knowledge sharing across multiple specialized agents.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6651" y="1397347"/>
            <a:ext cx="3632150" cy="3417689"/>
          </a:xfrm>
          <a:prstGeom prst="roundRect">
            <a:avLst>
              <a:gd name="adj" fmla="val 2973"/>
            </a:avLst>
          </a:prstGeom>
          <a:solidFill>
            <a:srgbClr val="40695B">
              <a:alpha val="10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89327" y="1610023"/>
            <a:ext cx="32709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89327" y="193699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93655" y="200516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95627" y="1936998"/>
            <a:ext cx="285650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investigates codebase, finds auth patterns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9327" y="239390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93655" y="246206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95627" y="2393900"/>
            <a:ext cx="285650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stored as context artifact: "auth_patterns"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89327" y="285080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93655" y="291896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95627" y="2850803"/>
            <a:ext cx="285650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references context_refs: ["auth_patterns"]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89327" y="330770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193655" y="337586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95627" y="3307705"/>
            <a:ext cx="285650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receives focused context for implementation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89327" y="376460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93655" y="383277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95627" y="3764607"/>
            <a:ext cx="270713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adds new contexts about changes made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89327" y="414545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193655" y="4213622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95627" y="4145459"/>
            <a:ext cx="2856509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verifies using all accumulated knowledge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57200"/>
            <a:ext cx="80313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120676"/>
            <a:ext cx="803137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140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text output is parsed into validated action objects using XML tags with YAML bodies. Pydantic models enforce strict schemas with </a:t>
            </a: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extra="forbid"</a:t>
            </a: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689497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Output Example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962448"/>
            <a:ext cx="4063901" cy="1948160"/>
          </a:xfrm>
          <a:prstGeom prst="roundRect">
            <a:avLst>
              <a:gd name="adj" fmla="val 3911"/>
            </a:avLst>
          </a:prstGeom>
          <a:solidFill>
            <a:srgbClr val="0D0F14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6826" y="2098923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&lt;think&gt;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96826" y="2238524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need to read the file first.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96826" y="2378125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&lt;/think&gt;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96826" y="2517725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&lt;read_file&gt;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6826" y="2657326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file_path: "/src/main.py"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6826" y="2796927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100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96826" y="2936528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&lt;/read_file&gt;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96826" y="3076129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&lt;edit_file&gt;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6826" y="3215729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file_path: "/src/main.py"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96826" y="3355330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old_string: "def hello():"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96826" y="3494931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new_string: "def greet():"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6826" y="3634532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&lt;/edit_file&gt;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4901" y="4063008"/>
            <a:ext cx="4145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Regex: (?:^|\n)\s*&lt;(\w+)&gt;([\s\S]*?)&lt;/\1&gt;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01" y="4247108"/>
            <a:ext cx="4145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xml tags extracted ↓ yaml.safe_load ↓ Pydantic validate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4901" y="4431209"/>
            <a:ext cx="4063901" cy="552152"/>
          </a:xfrm>
          <a:prstGeom prst="roundRect">
            <a:avLst>
              <a:gd name="adj" fmla="val 13801"/>
            </a:avLst>
          </a:prstGeom>
          <a:solidFill>
            <a:srgbClr val="0D0F14"/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567684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ReadAction(file_path="/src/main.py", limit=100)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6826" y="4707285"/>
            <a:ext cx="3814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EditAction(file_path="/src/main.py", ...)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2702" y="1689497"/>
            <a:ext cx="36270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Action Types Across 6 Categories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2702" y="1962448"/>
            <a:ext cx="3627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52702" y="2171998"/>
            <a:ext cx="465832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63728" y="2219623"/>
            <a:ext cx="248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4734" y="2171998"/>
            <a:ext cx="587722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05760" y="2219623"/>
            <a:ext cx="3729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58657" y="2171998"/>
            <a:ext cx="831503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69682" y="2219623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user_input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52702" y="2508498"/>
            <a:ext cx="3627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Operations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2702" y="2718048"/>
            <a:ext cx="770483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63728" y="2765673"/>
            <a:ext cx="55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99386" y="2718048"/>
            <a:ext cx="831503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10411" y="2765673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write_file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07088" y="2718048"/>
            <a:ext cx="770483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18114" y="2765673"/>
            <a:ext cx="55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edit_file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53771" y="2718048"/>
            <a:ext cx="831503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664797" y="2765673"/>
            <a:ext cx="621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multi_edit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52702" y="3054548"/>
            <a:ext cx="3627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52702" y="3264098"/>
            <a:ext cx="465832" cy="209550"/>
          </a:xfrm>
          <a:prstGeom prst="roundRect">
            <a:avLst>
              <a:gd name="adj" fmla="val 24242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063728" y="3311723"/>
            <a:ext cx="248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94734" y="3264098"/>
            <a:ext cx="465832" cy="209550"/>
          </a:xfrm>
          <a:prstGeom prst="roundRect">
            <a:avLst>
              <a:gd name="adj" fmla="val 24242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605760" y="3311723"/>
            <a:ext cx="2486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36766" y="3264098"/>
            <a:ext cx="343942" cy="209550"/>
          </a:xfrm>
          <a:prstGeom prst="roundRect">
            <a:avLst>
              <a:gd name="adj" fmla="val 24242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47792" y="3311723"/>
            <a:ext cx="1243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952702" y="3600599"/>
            <a:ext cx="36270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Management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52702" y="3810149"/>
            <a:ext cx="892373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063728" y="3857774"/>
            <a:ext cx="6837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task_create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21276" y="3810149"/>
            <a:ext cx="892373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32302" y="3857774"/>
            <a:ext cx="6837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add_context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889849" y="3810149"/>
            <a:ext cx="1136154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00875" y="3857774"/>
            <a:ext cx="9323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launch_subagent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952702" y="4095899"/>
            <a:ext cx="587722" cy="209550"/>
          </a:xfrm>
          <a:prstGeom prst="roundRect">
            <a:avLst>
              <a:gd name="adj" fmla="val 24242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63728" y="4143524"/>
            <a:ext cx="3729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B165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952702" y="445144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079653" y="4432399"/>
            <a:ext cx="5909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access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11441" y="445144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938391" y="4432399"/>
            <a:ext cx="472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04800"/>
            <a:ext cx="80313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707975"/>
            <a:ext cx="762000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847576"/>
            <a:ext cx="7816751" cy="481757"/>
          </a:xfrm>
          <a:prstGeom prst="roundRect">
            <a:avLst>
              <a:gd name="adj" fmla="val 1581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6826" y="9740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9277" y="102170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6927" y="945952"/>
            <a:ext cx="32662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submits task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6927" y="1101477"/>
            <a:ext cx="3266230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authentication to the API" - high-level intent enters the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4901" y="1392734"/>
            <a:ext cx="7816751" cy="481757"/>
          </a:xfrm>
          <a:prstGeom prst="roundRect">
            <a:avLst>
              <a:gd name="adj" fmla="val 15817"/>
            </a:avLst>
          </a:prstGeom>
          <a:solidFill>
            <a:srgbClr val="B165FB">
              <a:alpha val="12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6826" y="151923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79277" y="156686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6927" y="1491109"/>
            <a:ext cx="47296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analyzes and delegates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6927" y="1646634"/>
            <a:ext cx="4729627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TaskCreateAction(agent="explorer") to investigate existing auth patterns in the codebase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4901" y="1937891"/>
            <a:ext cx="4006751" cy="481757"/>
          </a:xfrm>
          <a:prstGeom prst="roundRect">
            <a:avLst>
              <a:gd name="adj" fmla="val 15817"/>
            </a:avLst>
          </a:prstGeom>
          <a:solidFill>
            <a:srgbClr val="40695B">
              <a:alpha val="12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06439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9277" y="211202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6927" y="2036266"/>
            <a:ext cx="29492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investigates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6927" y="2191792"/>
            <a:ext cx="2949261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files, greps patterns, reports findings to Context Store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4901" y="2483048"/>
            <a:ext cx="4006751" cy="481757"/>
          </a:xfrm>
          <a:prstGeom prst="roundRect">
            <a:avLst>
              <a:gd name="adj" fmla="val 15817"/>
            </a:avLst>
          </a:prstGeom>
          <a:solidFill>
            <a:srgbClr val="B165FB">
              <a:alpha val="12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826" y="26095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9277" y="265717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6927" y="2581424"/>
            <a:ext cx="24780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launches 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6927" y="2736949"/>
            <a:ext cx="2478060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context_refs with all discovered knowledge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4901" y="3028206"/>
            <a:ext cx="4006751" cy="481757"/>
          </a:xfrm>
          <a:prstGeom prst="roundRect">
            <a:avLst>
              <a:gd name="adj" fmla="val 15817"/>
            </a:avLst>
          </a:prstGeom>
          <a:solidFill>
            <a:srgbClr val="B165FB">
              <a:alpha val="12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315471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79277" y="320233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6927" y="3126581"/>
            <a:ext cx="2788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 implements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6927" y="3282107"/>
            <a:ext cx="2788045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auth middleware, updates routes, reports changes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4901" y="3573363"/>
            <a:ext cx="4006751" cy="481757"/>
          </a:xfrm>
          <a:prstGeom prst="roundRect">
            <a:avLst>
              <a:gd name="adj" fmla="val 15817"/>
            </a:avLst>
          </a:prstGeom>
          <a:solidFill>
            <a:srgbClr val="40695B">
              <a:alpha val="12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96826" y="369986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79277" y="374749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6927" y="3671739"/>
            <a:ext cx="27777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verifies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6927" y="3827264"/>
            <a:ext cx="2777722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tests, validates endpoints, confirms implementation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4901" y="4118521"/>
            <a:ext cx="7816751" cy="481757"/>
          </a:xfrm>
          <a:prstGeom prst="roundRect">
            <a:avLst>
              <a:gd name="adj" fmla="val 1581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96826" y="42450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9277" y="4292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6927" y="4216896"/>
            <a:ext cx="45720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returns success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6927" y="4372421"/>
            <a:ext cx="4572054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FinishAction(message="Authentication added successfully") - task complete with full audit trail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30101"/>
            <a:ext cx="82905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733276"/>
            <a:ext cx="762000" cy="381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898327"/>
            <a:ext cx="2624733" cy="972889"/>
          </a:xfrm>
          <a:prstGeom prst="roundRect">
            <a:avLst>
              <a:gd name="adj" fmla="val 783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034802"/>
            <a:ext cx="228600" cy="228600"/>
          </a:xfrm>
          <a:prstGeom prst="roundRect">
            <a:avLst>
              <a:gd name="adj" fmla="val 22222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2326" y="108242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4675" y="1072902"/>
            <a:ext cx="1186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Delegation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9875" y="1314152"/>
            <a:ext cx="234690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has no code access, forcing proper task decomposition and strategic thinking over quick fixes.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59634" y="898327"/>
            <a:ext cx="2624584" cy="972889"/>
          </a:xfrm>
          <a:prstGeom prst="roundRect">
            <a:avLst>
              <a:gd name="adj" fmla="val 783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1559" y="1034802"/>
            <a:ext cx="228600" cy="228600"/>
          </a:xfrm>
          <a:prstGeom prst="roundRect">
            <a:avLst>
              <a:gd name="adj" fmla="val 22222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04009" y="108242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26359" y="1072902"/>
            <a:ext cx="1247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Validation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1559" y="1314152"/>
            <a:ext cx="234674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is a Pydantic model with extra="forbid". LLM cannot pass unexpected fields.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011168" y="898327"/>
            <a:ext cx="2624733" cy="972889"/>
          </a:xfrm>
          <a:prstGeom prst="roundRect">
            <a:avLst>
              <a:gd name="adj" fmla="val 783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73093" y="1034802"/>
            <a:ext cx="228600" cy="228600"/>
          </a:xfrm>
          <a:prstGeom prst="roundRect">
            <a:avLst>
              <a:gd name="adj" fmla="val 22222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55544" y="108242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77893" y="1072902"/>
            <a:ext cx="1126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inside XML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3093" y="1314152"/>
            <a:ext cx="234690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 tags define action boundaries, YAML provides structured data. Clean parsing with clear semantics.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7950" y="1972717"/>
            <a:ext cx="2624733" cy="972889"/>
          </a:xfrm>
          <a:prstGeom prst="roundRect">
            <a:avLst>
              <a:gd name="adj" fmla="val 783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9875" y="2109192"/>
            <a:ext cx="228600" cy="228600"/>
          </a:xfrm>
          <a:prstGeom prst="roundRect">
            <a:avLst>
              <a:gd name="adj" fmla="val 22222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2326" y="215681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4675" y="2147292"/>
            <a:ext cx="13002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Pipeline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9875" y="2388543"/>
            <a:ext cx="234690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concerns separated from action logic via before/after hooks with chain unwinding.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59634" y="1972717"/>
            <a:ext cx="2624584" cy="972889"/>
          </a:xfrm>
          <a:prstGeom prst="roundRect">
            <a:avLst>
              <a:gd name="adj" fmla="val 783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421559" y="2109192"/>
            <a:ext cx="228600" cy="228600"/>
          </a:xfrm>
          <a:prstGeom prst="roundRect">
            <a:avLst>
              <a:gd name="adj" fmla="val 22222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504009" y="215681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26359" y="2147292"/>
            <a:ext cx="12646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Accumulation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1559" y="2388543"/>
            <a:ext cx="2346749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are OR-accumulated, not short-circuited. Parse and execution errors collected for the agent.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11168" y="1972717"/>
            <a:ext cx="2624733" cy="972889"/>
          </a:xfrm>
          <a:prstGeom prst="roundRect">
            <a:avLst>
              <a:gd name="adj" fmla="val 7832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73093" y="2109192"/>
            <a:ext cx="228600" cy="228600"/>
          </a:xfrm>
          <a:prstGeom prst="roundRect">
            <a:avLst>
              <a:gd name="adj" fmla="val 22222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55544" y="215681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77893" y="2147292"/>
            <a:ext cx="12394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Verification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3093" y="2388543"/>
            <a:ext cx="2346900" cy="420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agents verify all implementations. Test execution built into the workflow, not an afterthought.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93390" y="1290786"/>
            <a:ext cx="235707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477792" y="1887587"/>
            <a:ext cx="21884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16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05757" y="2506712"/>
            <a:ext cx="1981795" cy="710952"/>
          </a:xfrm>
          <a:prstGeom prst="roundRect">
            <a:avLst>
              <a:gd name="adj" fmla="val 14291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54633" y="2693938"/>
            <a:ext cx="14840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54633" y="2897088"/>
            <a:ext cx="1484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github.com/ai-code-assistant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41453" y="2506712"/>
            <a:ext cx="2896791" cy="710952"/>
          </a:xfrm>
          <a:prstGeom prst="roundRect">
            <a:avLst>
              <a:gd name="adj" fmla="val 14291"/>
            </a:avLst>
          </a:prstGeom>
          <a:solidFill>
            <a:srgbClr val="B165FB">
              <a:alpha val="10000"/>
            </a:srgbClr>
          </a:solidFill>
          <a:ln w="9525">
            <a:solidFill>
              <a:srgbClr val="B165F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81179" y="2693938"/>
            <a:ext cx="2417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1179" y="2897088"/>
            <a:ext cx="241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sync &amp;&amp; python test/real_advanced_task.py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08945" y="3598664"/>
            <a:ext cx="628799" cy="253901"/>
          </a:xfrm>
          <a:prstGeom prst="roundRect">
            <a:avLst>
              <a:gd name="adj" fmla="val 20008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45420" y="3658939"/>
            <a:ext cx="362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694" y="3598664"/>
            <a:ext cx="863947" cy="253901"/>
          </a:xfrm>
          <a:prstGeom prst="roundRect">
            <a:avLst>
              <a:gd name="adj" fmla="val 20008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01169" y="3658939"/>
            <a:ext cx="6028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55591" y="3598664"/>
            <a:ext cx="679698" cy="253901"/>
          </a:xfrm>
          <a:prstGeom prst="roundRect">
            <a:avLst>
              <a:gd name="adj" fmla="val 20008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92067" y="3658939"/>
            <a:ext cx="414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62240" y="3598664"/>
            <a:ext cx="842516" cy="253901"/>
          </a:xfrm>
          <a:prstGeom prst="roundRect">
            <a:avLst>
              <a:gd name="adj" fmla="val 20008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98715" y="3658939"/>
            <a:ext cx="5809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YAML/XML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1706" y="3598664"/>
            <a:ext cx="603349" cy="253901"/>
          </a:xfrm>
          <a:prstGeom prst="roundRect">
            <a:avLst>
              <a:gd name="adj" fmla="val 20008"/>
            </a:avLst>
          </a:prstGeom>
          <a:solidFill>
            <a:srgbClr val="40695B">
              <a:alpha val="15000"/>
            </a:srgbClr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68182" y="3658939"/>
            <a:ext cx="337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1149</Words>
  <Application>Microsoft Macintosh PowerPoint</Application>
  <PresentationFormat>On-screen Show (16:9)</PresentationFormat>
  <Paragraphs>213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AI Code Assistant with Deep Agent Architecture</dc:title>
  <dc:subject>PptxGenJS Presentation</dc:subject>
  <dc:creator>AI Code Assistant Course</dc:creator>
  <cp:lastModifiedBy>Alexsandro Souza</cp:lastModifiedBy>
  <cp:revision>4</cp:revision>
  <dcterms:created xsi:type="dcterms:W3CDTF">2026-03-20T19:33:03Z</dcterms:created>
  <dcterms:modified xsi:type="dcterms:W3CDTF">2026-03-22T15:20:35Z</dcterms:modified>
</cp:coreProperties>
</file>