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2681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01501" cy="514350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400949" y="2400449"/>
            <a:ext cx="2616101" cy="2616101"/>
          </a:xfrm>
          <a:prstGeom prst="roundRect">
            <a:avLst>
              <a:gd name="adj" fmla="val 34953"/>
            </a:avLst>
          </a:prstGeom>
          <a:noFill/>
          <a:ln w="38100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803999" y="126950"/>
            <a:ext cx="1562100" cy="1562100"/>
          </a:xfrm>
          <a:prstGeom prst="roundRect">
            <a:avLst>
              <a:gd name="adj" fmla="val 58537"/>
            </a:avLst>
          </a:prstGeom>
          <a:noFill/>
          <a:ln w="19050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863352"/>
            <a:ext cx="62558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0"/>
              </a:spcAft>
              <a:buNone/>
            </a:pPr>
            <a:r>
              <a:rPr lang="en-US" sz="18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ONLINE COURSE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7950" y="1511052"/>
            <a:ext cx="6255871" cy="1036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80"/>
              </a:lnSpc>
              <a:spcAft>
                <a:spcPts val="1200"/>
              </a:spcAft>
              <a:buNone/>
            </a:pPr>
            <a:r>
              <a:rPr lang="en-US" sz="3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an AI Code Assistant</a:t>
            </a:r>
            <a:endParaRPr lang="en-US" sz="3400" dirty="0"/>
          </a:p>
          <a:p>
            <a:pPr marL="0" indent="0" algn="l">
              <a:lnSpc>
                <a:spcPts val="4080"/>
              </a:lnSpc>
              <a:spcAft>
                <a:spcPts val="1200"/>
              </a:spcAft>
              <a:buNone/>
            </a:pPr>
            <a:r>
              <a:rPr lang="en-US" sz="3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Deep Agent Architecture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507950" y="2699593"/>
            <a:ext cx="6217920" cy="74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50"/>
              </a:lnSpc>
              <a:spcAft>
                <a:spcPts val="3000"/>
              </a:spcAft>
              <a:buNone/>
            </a:pPr>
            <a:r>
              <a:rPr lang="en-US" sz="13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 how to build a multi-agent system where an orchestrator coordinates specialized subagents to tackle complex software engineering tasks through strategic delegation, verification, and shared knowledge.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7950" y="4026247"/>
            <a:ext cx="1321147" cy="253901"/>
          </a:xfrm>
          <a:prstGeom prst="roundRect">
            <a:avLst>
              <a:gd name="adj" fmla="val 20008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44426" y="4086523"/>
            <a:ext cx="10691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Multi-Agent Systems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930598" y="4026247"/>
            <a:ext cx="1213247" cy="253901"/>
          </a:xfrm>
          <a:prstGeom prst="roundRect">
            <a:avLst>
              <a:gd name="adj" fmla="val 20008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067074" y="4086523"/>
            <a:ext cx="95910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Orchestration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45346" y="4026247"/>
            <a:ext cx="628799" cy="253901"/>
          </a:xfrm>
          <a:prstGeom prst="roundRect">
            <a:avLst>
              <a:gd name="adj" fmla="val 20008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81821" y="4086523"/>
            <a:ext cx="3629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975646" y="4026247"/>
            <a:ext cx="711398" cy="253901"/>
          </a:xfrm>
          <a:prstGeom prst="roundRect">
            <a:avLst>
              <a:gd name="adj" fmla="val 20008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112121" y="4086523"/>
            <a:ext cx="4472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81000"/>
            <a:ext cx="8031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Deep Agents?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930176"/>
            <a:ext cx="8031379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spcAft>
                <a:spcPts val="1200"/>
              </a:spcAft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Agents are an advanced agent architecture designed for complex, multi-step tasks requiring sustained reasoning, tool use, and memory. They power real-world apps like Claude Code, Deep Research, and Manus.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901" y="1473696"/>
            <a:ext cx="4133552" cy="818555"/>
          </a:xfrm>
          <a:prstGeom prst="roundRect">
            <a:avLst>
              <a:gd name="adj" fmla="val 1241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127" y="1635621"/>
            <a:ext cx="38342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Actions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127" y="1800523"/>
            <a:ext cx="3834283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Strategically decompose complex tasks into manageable subtasks with clear dependencies.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2419201"/>
            <a:ext cx="4133552" cy="818555"/>
          </a:xfrm>
          <a:prstGeom prst="roundRect">
            <a:avLst>
              <a:gd name="adj" fmla="val 1241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22127" y="2581126"/>
            <a:ext cx="38342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 Context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127" y="2746028"/>
            <a:ext cx="3834283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 evolving state across long interactions with persistent knowledge stores.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4901" y="3364706"/>
            <a:ext cx="4133552" cy="818555"/>
          </a:xfrm>
          <a:prstGeom prst="roundRect">
            <a:avLst>
              <a:gd name="adj" fmla="val 1241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127" y="3526631"/>
            <a:ext cx="38342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to Specialists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2127" y="3691533"/>
            <a:ext cx="3834283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specialized sub-agents for exploration, coding, and verification tasks.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4901" y="4310211"/>
            <a:ext cx="4133552" cy="818555"/>
          </a:xfrm>
          <a:prstGeom prst="roundRect">
            <a:avLst>
              <a:gd name="adj" fmla="val 12412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22127" y="4472136"/>
            <a:ext cx="3834283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Knowledge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2127" y="4637038"/>
            <a:ext cx="3834283" cy="329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compound intelligence where every discovery becomes a permanent building block.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507950"/>
            <a:ext cx="8031379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993725"/>
            <a:ext cx="762000" cy="38100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34901" y="1285726"/>
            <a:ext cx="2539901" cy="713631"/>
          </a:xfrm>
          <a:prstGeom prst="roundRect">
            <a:avLst>
              <a:gd name="adj" fmla="val 14237"/>
            </a:avLst>
          </a:prstGeom>
          <a:solidFill>
            <a:srgbClr val="40695B">
              <a:alpha val="30000"/>
            </a:srgbClr>
          </a:solidFill>
          <a:ln w="19050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10188" y="1457176"/>
            <a:ext cx="21893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10188" y="1679377"/>
            <a:ext cx="2189327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Submits tasks, receives results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09502" y="2151608"/>
            <a:ext cx="2590699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34901" y="2541984"/>
            <a:ext cx="2539901" cy="862161"/>
          </a:xfrm>
          <a:prstGeom prst="roundRect">
            <a:avLst>
              <a:gd name="adj" fmla="val 11784"/>
            </a:avLst>
          </a:prstGeom>
          <a:solidFill>
            <a:srgbClr val="B165FB">
              <a:alpha val="20000"/>
            </a:srgbClr>
          </a:solidFill>
          <a:ln w="19050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0188" y="2713434"/>
            <a:ext cx="218932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Agent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10188" y="2935635"/>
            <a:ext cx="2189327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brain. No direct code access. Plans, delegates, verifies.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68576" y="1285726"/>
            <a:ext cx="2406402" cy="843111"/>
          </a:xfrm>
          <a:prstGeom prst="roundRect">
            <a:avLst>
              <a:gd name="adj" fmla="val 1205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35482" y="1447651"/>
            <a:ext cx="20725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Store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35482" y="1669852"/>
            <a:ext cx="2072589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knowledge base shared across all agents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68576" y="2255788"/>
            <a:ext cx="2406402" cy="843111"/>
          </a:xfrm>
          <a:prstGeom prst="roundRect">
            <a:avLst>
              <a:gd name="adj" fmla="val 1205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535482" y="2417713"/>
            <a:ext cx="20725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35482" y="2639913"/>
            <a:ext cx="2072589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all subtasks, status, and audit trail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68576" y="3225850"/>
            <a:ext cx="2406402" cy="843111"/>
          </a:xfrm>
          <a:prstGeom prst="roundRect">
            <a:avLst>
              <a:gd name="adj" fmla="val 12051"/>
            </a:avLst>
          </a:prstGeom>
          <a:solidFill>
            <a:srgbClr val="FFFFFF">
              <a:alpha val="6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535482" y="3387775"/>
            <a:ext cx="207258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 Pipeline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535482" y="3609975"/>
            <a:ext cx="2072589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Permissions, logging, timing, error recovery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968603" y="1285726"/>
            <a:ext cx="2539901" cy="843111"/>
          </a:xfrm>
          <a:prstGeom prst="roundRect">
            <a:avLst>
              <a:gd name="adj" fmla="val 12051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34174" y="1447651"/>
            <a:ext cx="22087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Agent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134174" y="1669852"/>
            <a:ext cx="220875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investigation. Finds patterns, runs tests, reports findings.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968603" y="2560439"/>
            <a:ext cx="2539901" cy="843111"/>
          </a:xfrm>
          <a:prstGeom prst="roundRect">
            <a:avLst>
              <a:gd name="adj" fmla="val 12051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6134174" y="2722364"/>
            <a:ext cx="220875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Agent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134174" y="2944564"/>
            <a:ext cx="220875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170"/>
              </a:lnSpc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write access. Implements features, fixes bugs, modifies code.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55550"/>
            <a:ext cx="8031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Orchestrator Agent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777776"/>
            <a:ext cx="762000" cy="38100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34901" y="942826"/>
            <a:ext cx="3682901" cy="736104"/>
          </a:xfrm>
          <a:prstGeom prst="rect">
            <a:avLst/>
          </a:prstGeom>
          <a:solidFill>
            <a:srgbClr val="B165FB">
              <a:alpha val="12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658713" y="942826"/>
            <a:ext cx="0" cy="736104"/>
          </a:xfrm>
          <a:prstGeom prst="line">
            <a:avLst/>
          </a:prstGeom>
          <a:noFill/>
          <a:ln w="47625">
            <a:solidFill>
              <a:srgbClr val="B165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34926" y="1044327"/>
            <a:ext cx="3397085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Orchestrator has NO direct code access. This forces proper task decomposition and strategic thinking.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4901" y="1805880"/>
            <a:ext cx="37565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Responsibilities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053530"/>
            <a:ext cx="3682901" cy="1131689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Analyzes complex tasks and creates strategic plans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Decomposes work into subtasks for specialized agents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the Context Store (knowledge base)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Tracks all tasks via the Task Store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Verifies work through Explorer agents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Coordinates the full task lifecycle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34901" y="3286720"/>
            <a:ext cx="37565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Loop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34901" y="3534370"/>
            <a:ext cx="3682901" cy="741759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user message with session history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 LLM through middleware pipeline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and execute actions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turn and update state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622602" y="942826"/>
            <a:ext cx="37565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Execution Flow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22602" y="1190476"/>
            <a:ext cx="3682901" cy="1618059"/>
          </a:xfrm>
          <a:prstGeom prst="roundRect">
            <a:avLst>
              <a:gd name="adj" fmla="val 4709"/>
            </a:avLst>
          </a:prstGeom>
          <a:solidFill>
            <a:srgbClr val="0D0F14"/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59077" y="1301502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OrchestratorAgent(Agent):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759077" y="1441103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_core_turn(self, ctx):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759077" y="1580704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msg = session_history.to_prompt()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759077" y="1720304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llm_resp = _get_llm_response(msg)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759077" y="1859905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handle_llm_response(llm_resp)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9077" y="1999506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turn_history.add_turn(turn)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59077" y="2139107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run_task(self, task, max_turns):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59077" y="2278707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not done and turns &lt; max: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59077" y="2418308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 = _handle_turn(...)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759077" y="2557909"/>
            <a:ext cx="347814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result['done']: break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622602" y="2986236"/>
            <a:ext cx="37565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State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622602" y="3233886"/>
            <a:ext cx="3682901" cy="665559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SessionHistory</a:t>
            </a: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aggregates task store, context store, and turn history into a single prompt</a:t>
            </a:r>
            <a:endParaRPr lang="en-US" sz="950" dirty="0"/>
          </a:p>
          <a:p>
            <a:pPr marL="101600" indent="-101600" algn="l">
              <a:lnSpc>
                <a:spcPts val="1235"/>
              </a:lnSpc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TurnHistory</a:t>
            </a:r>
            <a:r>
              <a:rPr lang="en-US" sz="9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records every LLM call, actions, and environment responses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55550"/>
            <a:ext cx="8031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 Subagents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777776"/>
            <a:ext cx="762000" cy="24259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34901" y="928985"/>
            <a:ext cx="3784550" cy="3858964"/>
          </a:xfrm>
          <a:prstGeom prst="roundRect">
            <a:avLst>
              <a:gd name="adj" fmla="val 3356"/>
            </a:avLst>
          </a:prstGeom>
          <a:solidFill>
            <a:srgbClr val="40695B">
              <a:alpha val="12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22127" y="1116211"/>
            <a:ext cx="34783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Agent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127" y="1433661"/>
            <a:ext cx="1373832" cy="209550"/>
          </a:xfrm>
          <a:prstGeom prst="roundRect">
            <a:avLst>
              <a:gd name="adj" fmla="val 24242"/>
            </a:avLst>
          </a:prstGeom>
          <a:solidFill>
            <a:srgbClr val="40695B">
              <a:alpha val="3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23627" y="1471761"/>
            <a:ext cx="119424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ACCESS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22127" y="1948011"/>
            <a:ext cx="34783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127" y="2195661"/>
            <a:ext cx="3410099" cy="90100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files, search with grep/glob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bash commands (read-only)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tests and gather information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Investigate system behavior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127" y="3223617"/>
            <a:ext cx="3410099" cy="1265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22127" y="3388668"/>
            <a:ext cx="34783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127" y="3636318"/>
            <a:ext cx="3410099" cy="90100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 existing code patterns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implementations after coding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knowledge artifacts for Context Store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findings back to Orchestrator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24251" y="928985"/>
            <a:ext cx="3784550" cy="3858964"/>
          </a:xfrm>
          <a:prstGeom prst="roundRect">
            <a:avLst>
              <a:gd name="adj" fmla="val 3356"/>
            </a:avLst>
          </a:prstGeom>
          <a:solidFill>
            <a:srgbClr val="B165FB">
              <a:alpha val="8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911477" y="1116211"/>
            <a:ext cx="34783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Agent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11477" y="1433661"/>
            <a:ext cx="1396901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2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12978" y="1471761"/>
            <a:ext cx="121777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WRITE ACCESS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911477" y="1948011"/>
            <a:ext cx="34783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11477" y="2195661"/>
            <a:ext cx="3410099" cy="90100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Read, write, and edit files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 bash commands (full access)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Multi-edit operations on single files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temporary scripts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11477" y="3223617"/>
            <a:ext cx="3410099" cy="12650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911477" y="3388668"/>
            <a:ext cx="34783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Bef>
                <a:spcPts val="1200"/>
              </a:spcBef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911477" y="3636318"/>
            <a:ext cx="3410099" cy="901005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new features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bugs and refactor code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code modifications with context</a:t>
            </a:r>
            <a:endParaRPr lang="en-US" sz="1000" dirty="0"/>
          </a:p>
          <a:p>
            <a:pPr marL="101600" indent="-101600" algn="l">
              <a:lnSpc>
                <a:spcPts val="14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changes back with artifacts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55550"/>
            <a:ext cx="8031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Store &amp; Knowledge Sharing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879277"/>
            <a:ext cx="8031379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Context Store is the persistent knowledge base that enables compound intelligence. Every agent discovery becomes a permanent building block for future tasks.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901" y="1397347"/>
            <a:ext cx="476250" cy="476250"/>
          </a:xfrm>
          <a:prstGeom prst="roundRect">
            <a:avLst>
              <a:gd name="adj" fmla="val 21333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13643" y="1516410"/>
            <a:ext cx="12114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8101" y="1397347"/>
            <a:ext cx="34004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Accumulation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8101" y="1606897"/>
            <a:ext cx="340042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discovery from explorers and coders is stored as a context artifact with ID, content, and source tracking.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4901" y="2089249"/>
            <a:ext cx="476250" cy="476250"/>
          </a:xfrm>
          <a:prstGeom prst="roundRect">
            <a:avLst>
              <a:gd name="adj" fmla="val 21333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16471" y="2208312"/>
            <a:ext cx="115372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8101" y="2089249"/>
            <a:ext cx="34004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Redundant 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8101" y="2298799"/>
            <a:ext cx="340042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reference existing contexts before starting work. No information is rediscovered twice.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4901" y="2781151"/>
            <a:ext cx="476250" cy="476250"/>
          </a:xfrm>
          <a:prstGeom prst="roundRect">
            <a:avLst>
              <a:gd name="adj" fmla="val 21333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13643" y="2900214"/>
            <a:ext cx="121140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8101" y="2781151"/>
            <a:ext cx="34004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Focused Execution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38101" y="2990701"/>
            <a:ext cx="340042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subagent receives only the context refs it needs, keeping prompts lean and focused.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4901" y="3473053"/>
            <a:ext cx="476250" cy="476250"/>
          </a:xfrm>
          <a:prstGeom prst="roundRect">
            <a:avLst>
              <a:gd name="adj" fmla="val 21333"/>
            </a:avLst>
          </a:prstGeom>
          <a:solidFill>
            <a:srgbClr val="B165FB">
              <a:alpha val="15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22127" y="3592116"/>
            <a:ext cx="103683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8101" y="3473053"/>
            <a:ext cx="34004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Compound Intelligence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238101" y="3682603"/>
            <a:ext cx="3400425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Exponential problem-solving through knowledge sharing across multiple specialized agents.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76651" y="1397347"/>
            <a:ext cx="3632150" cy="3417689"/>
          </a:xfrm>
          <a:prstGeom prst="roundRect">
            <a:avLst>
              <a:gd name="adj" fmla="val 2973"/>
            </a:avLst>
          </a:prstGeom>
          <a:solidFill>
            <a:srgbClr val="40695B">
              <a:alpha val="10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089327" y="1610023"/>
            <a:ext cx="327093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 Flow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089327" y="1936998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93655" y="2005161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95627" y="1936998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investigates codebase, finds auth patterns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089327" y="239390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193655" y="2462064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95627" y="2393900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Findings stored as context artifact: "auth_patterns"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89327" y="285080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193655" y="2918966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495627" y="2850803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references context_refs: ["auth_patterns"]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89327" y="3307705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193655" y="3375868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495627" y="3307705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receives focused context for implementation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89327" y="3764607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193655" y="3832771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95627" y="3764607"/>
            <a:ext cx="2707133" cy="177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adds new contexts about changes made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089327" y="4145459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193655" y="4213622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95627" y="4145459"/>
            <a:ext cx="2856509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0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verifies using all accumulated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30101"/>
            <a:ext cx="8031379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 Pipeline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34901" y="752326"/>
            <a:ext cx="762000" cy="38100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34901" y="891927"/>
            <a:ext cx="8031379" cy="346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65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middleware pipeline separates cross-cutting concerns from core logic. Before hooks run in order; after hooks unwind in reverse (chain-of-responsibility pattern).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34901" y="1339900"/>
            <a:ext cx="2539901" cy="323850"/>
          </a:xfrm>
          <a:prstGeom prst="roundRect">
            <a:avLst>
              <a:gd name="adj" fmla="val 2352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1376" y="1451074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74378" y="1425625"/>
            <a:ext cx="108859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Guard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34901" y="1727150"/>
            <a:ext cx="2539901" cy="323850"/>
          </a:xfrm>
          <a:prstGeom prst="roundRect">
            <a:avLst>
              <a:gd name="adj" fmla="val 2352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771376" y="1838325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974378" y="1812875"/>
            <a:ext cx="8318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Budget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34901" y="2114401"/>
            <a:ext cx="2539901" cy="323850"/>
          </a:xfrm>
          <a:prstGeom prst="roundRect">
            <a:avLst>
              <a:gd name="adj" fmla="val 2352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71376" y="2225576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974378" y="2200126"/>
            <a:ext cx="108130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Truncation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34901" y="2501652"/>
            <a:ext cx="2539901" cy="323850"/>
          </a:xfrm>
          <a:prstGeom prst="roundRect">
            <a:avLst>
              <a:gd name="adj" fmla="val 2352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71376" y="2612827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974378" y="2587377"/>
            <a:ext cx="91462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Recovery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34901" y="2888903"/>
            <a:ext cx="2539901" cy="323850"/>
          </a:xfrm>
          <a:prstGeom prst="roundRect">
            <a:avLst>
              <a:gd name="adj" fmla="val 2352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71376" y="3000077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974378" y="2974628"/>
            <a:ext cx="4031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34901" y="3276154"/>
            <a:ext cx="2539901" cy="323850"/>
          </a:xfrm>
          <a:prstGeom prst="roundRect">
            <a:avLst>
              <a:gd name="adj" fmla="val 2352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71376" y="3387328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974378" y="3361879"/>
            <a:ext cx="574884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Log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34901" y="3663404"/>
            <a:ext cx="2539901" cy="323850"/>
          </a:xfrm>
          <a:prstGeom prst="roundRect">
            <a:avLst>
              <a:gd name="adj" fmla="val 23529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71376" y="3774579"/>
            <a:ext cx="101501" cy="101501"/>
          </a:xfrm>
          <a:prstGeom prst="roundRect">
            <a:avLst>
              <a:gd name="adj" fmla="val 900878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974378" y="3749129"/>
            <a:ext cx="1053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File Logging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479602" y="1339900"/>
            <a:ext cx="505206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Lifecycle Hooks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479602" y="1587550"/>
            <a:ext cx="4953000" cy="1796355"/>
          </a:xfrm>
          <a:prstGeom prst="roundRect">
            <a:avLst>
              <a:gd name="adj" fmla="val 5656"/>
            </a:avLst>
          </a:prstGeom>
          <a:solidFill>
            <a:srgbClr val="0D0F14"/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3641527" y="1724025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execute_turn(ctx, core_fn)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641527" y="1850975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mw: before_turn(ctx)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641527" y="1977926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core_fn(ctx)  # LLM + actions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641527" y="2104876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mw (reversed): after_turn(ctx)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641527" y="2231827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execute_model_call(messages, model_fn)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41527" y="2358777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mw: before_model_call(ctx)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641527" y="2485727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model_fn(messages)  # LLM API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3641527" y="2612678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mw (reversed): after_model_call(ctx)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3641527" y="2739628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execute_action(action, handler)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3641527" y="2866579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mw: before_action_call(ctx)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3641527" y="2993529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handler(action)  # Tool exec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3641527" y="3120479"/>
            <a:ext cx="472173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mw (reversed): after_action_call(ctx)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3479602" y="3485406"/>
            <a:ext cx="4953000" cy="500063"/>
          </a:xfrm>
          <a:prstGeom prst="rect">
            <a:avLst/>
          </a:prstGeom>
          <a:solidFill>
            <a:srgbClr val="40695B">
              <a:alpha val="10000"/>
            </a:srgbClr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Shape 40"/>
          <p:cNvSpPr/>
          <p:nvPr/>
        </p:nvSpPr>
        <p:spPr>
          <a:xfrm>
            <a:off x="3498652" y="3485406"/>
            <a:ext cx="0" cy="500062"/>
          </a:xfrm>
          <a:prstGeom prst="line">
            <a:avLst/>
          </a:prstGeom>
          <a:noFill/>
          <a:ln w="38100">
            <a:solidFill>
              <a:srgbClr val="4069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670102" y="3586907"/>
            <a:ext cx="4702302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Short-circuit support:</a:t>
            </a: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Any middleware can abort a turn or skip an action/model call, and only middlewares that ran before will unwind.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457200"/>
            <a:ext cx="8031379" cy="409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System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34901" y="1120676"/>
            <a:ext cx="8031379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40"/>
              </a:lnSpc>
              <a:spcAft>
                <a:spcPts val="1400"/>
              </a:spcAft>
              <a:buNone/>
            </a:pP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text output is parsed into validated action objects using XML tags with YAML bodies. Pydantic models enforce strict schemas with </a:t>
            </a:r>
            <a:r>
              <a:rPr lang="en-US" sz="1100" b="1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extra="forbid"</a:t>
            </a:r>
            <a:r>
              <a:rPr lang="en-US" sz="11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34901" y="1689497"/>
            <a:ext cx="41451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Output Example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962448"/>
            <a:ext cx="4063901" cy="1948160"/>
          </a:xfrm>
          <a:prstGeom prst="roundRect">
            <a:avLst>
              <a:gd name="adj" fmla="val 3911"/>
            </a:avLst>
          </a:prstGeom>
          <a:solidFill>
            <a:srgbClr val="0D0F14"/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96826" y="2098923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&lt;think&gt;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96826" y="2238524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need to read the file first.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96826" y="2378125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&lt;/think&gt;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96826" y="2517725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&lt;read_file&gt;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796826" y="2657326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file_path: "/src/main.py"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796826" y="2796927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limit: 100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96826" y="2936528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&lt;/read_file&gt;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96826" y="3076129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&lt;edit_file&gt;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96826" y="3215729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file_path: "/src/main.py"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96826" y="3355330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old_string: "def hello():"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96826" y="3494931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CCCCC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new_string: "def greet():"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96826" y="3634532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&lt;/edit_file&gt;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34901" y="4063008"/>
            <a:ext cx="4145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Regex: (?:^|\n)\s*&lt;(\w+)&gt;([\s\S]*?)&lt;/\1&gt;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34901" y="4247108"/>
            <a:ext cx="414517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 xml tags extracted ↓ yaml.safe_load ↓ Pydantic validate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4901" y="4431209"/>
            <a:ext cx="4063901" cy="552152"/>
          </a:xfrm>
          <a:prstGeom prst="roundRect">
            <a:avLst>
              <a:gd name="adj" fmla="val 13801"/>
            </a:avLst>
          </a:prstGeom>
          <a:solidFill>
            <a:srgbClr val="0D0F14"/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96826" y="4567684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ReadAction(file_path="/src/main.py", limit=100)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796826" y="4707285"/>
            <a:ext cx="381485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85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EditAction(file_path="/src/main.py", ...)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952702" y="1689497"/>
            <a:ext cx="362706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Action Types Across 6 Categories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52702" y="1962448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952702" y="2171998"/>
            <a:ext cx="465832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063728" y="2219623"/>
            <a:ext cx="2486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bash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494734" y="2171998"/>
            <a:ext cx="587722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605760" y="2219623"/>
            <a:ext cx="3729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finish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158657" y="2171998"/>
            <a:ext cx="83150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269682" y="2219623"/>
            <a:ext cx="621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user_input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952702" y="2508498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 Operations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952702" y="2718048"/>
            <a:ext cx="77048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5063728" y="2765673"/>
            <a:ext cx="55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799386" y="2718048"/>
            <a:ext cx="83150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910411" y="2765673"/>
            <a:ext cx="621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707088" y="2718048"/>
            <a:ext cx="77048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818114" y="2765673"/>
            <a:ext cx="5594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edit_file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553771" y="2718048"/>
            <a:ext cx="83150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7664797" y="2765673"/>
            <a:ext cx="62164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multi_edit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952702" y="3054548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952702" y="3264098"/>
            <a:ext cx="465832" cy="209550"/>
          </a:xfrm>
          <a:prstGeom prst="roundRect">
            <a:avLst>
              <a:gd name="adj" fmla="val 24242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5063728" y="3311723"/>
            <a:ext cx="2486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grep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94734" y="3264098"/>
            <a:ext cx="465832" cy="209550"/>
          </a:xfrm>
          <a:prstGeom prst="roundRect">
            <a:avLst>
              <a:gd name="adj" fmla="val 24242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605760" y="3311723"/>
            <a:ext cx="2486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glob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036766" y="3264098"/>
            <a:ext cx="343942" cy="209550"/>
          </a:xfrm>
          <a:prstGeom prst="roundRect">
            <a:avLst>
              <a:gd name="adj" fmla="val 24242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147792" y="3311723"/>
            <a:ext cx="1243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4069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ls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4952702" y="3600599"/>
            <a:ext cx="362706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600"/>
              </a:spcAft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Management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952702" y="3810149"/>
            <a:ext cx="89237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8"/>
          <p:cNvSpPr/>
          <p:nvPr/>
        </p:nvSpPr>
        <p:spPr>
          <a:xfrm>
            <a:off x="5063728" y="3857774"/>
            <a:ext cx="6837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task_create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921276" y="3810149"/>
            <a:ext cx="892373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6032302" y="3857774"/>
            <a:ext cx="68372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add_context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6889849" y="3810149"/>
            <a:ext cx="1136154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4" name="Text 52"/>
          <p:cNvSpPr/>
          <p:nvPr/>
        </p:nvSpPr>
        <p:spPr>
          <a:xfrm>
            <a:off x="7000875" y="3857774"/>
            <a:ext cx="9323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launch_subagent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952702" y="4095899"/>
            <a:ext cx="587722" cy="209550"/>
          </a:xfrm>
          <a:prstGeom prst="roundRect">
            <a:avLst>
              <a:gd name="adj" fmla="val 24242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5063728" y="4143524"/>
            <a:ext cx="372984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B165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4952702" y="445144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6"/>
          <p:cNvSpPr/>
          <p:nvPr/>
        </p:nvSpPr>
        <p:spPr>
          <a:xfrm>
            <a:off x="5079653" y="4432399"/>
            <a:ext cx="59097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access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5811441" y="4451449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938391" y="4432399"/>
            <a:ext cx="472113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34901" y="304800"/>
            <a:ext cx="803137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Data Flow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34901" y="707975"/>
            <a:ext cx="762000" cy="38100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34901" y="847576"/>
            <a:ext cx="7816751" cy="481757"/>
          </a:xfrm>
          <a:prstGeom prst="roundRect">
            <a:avLst>
              <a:gd name="adj" fmla="val 1581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96826" y="97408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79277" y="1021705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26927" y="945952"/>
            <a:ext cx="326623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submits task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6927" y="1101477"/>
            <a:ext cx="3266230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"Add authentication to the API" - high-level intent enters the system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634901" y="1392734"/>
            <a:ext cx="7816751" cy="481757"/>
          </a:xfrm>
          <a:prstGeom prst="roundRect">
            <a:avLst>
              <a:gd name="adj" fmla="val 15817"/>
            </a:avLst>
          </a:prstGeom>
          <a:solidFill>
            <a:srgbClr val="B165FB">
              <a:alpha val="12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96826" y="1519238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79277" y="1566863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26927" y="1491109"/>
            <a:ext cx="472962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analyzes and delegates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26927" y="1646634"/>
            <a:ext cx="4729627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TaskCreateAction(agent="explorer") to investigate existing auth patterns in the codebase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34901" y="1937891"/>
            <a:ext cx="4006751" cy="481757"/>
          </a:xfrm>
          <a:prstGeom prst="roundRect">
            <a:avLst>
              <a:gd name="adj" fmla="val 15817"/>
            </a:avLst>
          </a:prstGeom>
          <a:solidFill>
            <a:srgbClr val="40695B">
              <a:alpha val="12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96826" y="206439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879277" y="211202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26927" y="2036266"/>
            <a:ext cx="294926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investigates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126927" y="2191792"/>
            <a:ext cx="2949261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files, greps patterns, reports findings to Context Store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34901" y="2483048"/>
            <a:ext cx="4006751" cy="481757"/>
          </a:xfrm>
          <a:prstGeom prst="roundRect">
            <a:avLst>
              <a:gd name="adj" fmla="val 15817"/>
            </a:avLst>
          </a:prstGeom>
          <a:solidFill>
            <a:srgbClr val="B165FB">
              <a:alpha val="12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796826" y="2609552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879277" y="265717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6927" y="2581424"/>
            <a:ext cx="247806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launches Coder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6927" y="2736949"/>
            <a:ext cx="2478060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Passes context_refs with all discovered knowledge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34901" y="3028206"/>
            <a:ext cx="4006751" cy="481757"/>
          </a:xfrm>
          <a:prstGeom prst="roundRect">
            <a:avLst>
              <a:gd name="adj" fmla="val 15817"/>
            </a:avLst>
          </a:prstGeom>
          <a:solidFill>
            <a:srgbClr val="B165FB">
              <a:alpha val="12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96826" y="3154710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879277" y="3202335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26927" y="3126581"/>
            <a:ext cx="278804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Coder implements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126927" y="3282107"/>
            <a:ext cx="2788045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Writes auth middleware, updates routes, reports changes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34901" y="3573363"/>
            <a:ext cx="4006751" cy="481757"/>
          </a:xfrm>
          <a:prstGeom prst="roundRect">
            <a:avLst>
              <a:gd name="adj" fmla="val 15817"/>
            </a:avLst>
          </a:prstGeom>
          <a:solidFill>
            <a:srgbClr val="40695B">
              <a:alpha val="12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96826" y="3699867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879277" y="3747492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26927" y="3671739"/>
            <a:ext cx="2777722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verifies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26927" y="3827264"/>
            <a:ext cx="2777722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tests, validates endpoints, confirms implementation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34901" y="4118521"/>
            <a:ext cx="7816751" cy="481757"/>
          </a:xfrm>
          <a:prstGeom prst="roundRect">
            <a:avLst>
              <a:gd name="adj" fmla="val 1581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796826" y="4245025"/>
            <a:ext cx="228600" cy="228600"/>
          </a:xfrm>
          <a:prstGeom prst="roundRect">
            <a:avLst>
              <a:gd name="adj" fmla="val 400000"/>
            </a:avLst>
          </a:prstGeom>
          <a:solidFill>
            <a:srgbClr val="33333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879277" y="4292650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6927" y="4216896"/>
            <a:ext cx="457205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100"/>
              </a:spcAft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returns success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126927" y="4372421"/>
            <a:ext cx="4572054" cy="129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FinishAction(message="Authentication added successfully") - task complete with full audit trail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7950" y="330101"/>
            <a:ext cx="8290509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Design Decisions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07950" y="733276"/>
            <a:ext cx="762000" cy="38100"/>
          </a:xfrm>
          <a:prstGeom prst="rect">
            <a:avLst/>
          </a:prstGeom>
          <a:solidFill>
            <a:srgbClr val="40695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7950" y="898327"/>
            <a:ext cx="2624733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69875" y="103480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52326" y="108242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974675" y="1072902"/>
            <a:ext cx="118665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Forced Delegation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69875" y="1314152"/>
            <a:ext cx="2346900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has no code access, forcing proper task decomposition and strategic thinking over quick fixes.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259634" y="898327"/>
            <a:ext cx="2624584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421559" y="103480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4009" y="108242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26359" y="1072902"/>
            <a:ext cx="12472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Validation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421559" y="1314152"/>
            <a:ext cx="2346749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is a Pydantic model with extra="forbid". LLM cannot pass unexpected fields.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011168" y="898327"/>
            <a:ext cx="2624733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73093" y="103480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55544" y="108242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477893" y="1072902"/>
            <a:ext cx="112623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 inside XML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173093" y="1314152"/>
            <a:ext cx="2346900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XML tags define action boundaries, YAML provides structured data. Clean parsing with clear semantics.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7950" y="1972717"/>
            <a:ext cx="2624733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669875" y="210919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752326" y="215681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74675" y="2147292"/>
            <a:ext cx="13002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Middleware Pipeline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69875" y="2388543"/>
            <a:ext cx="2346900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Cross-cutting concerns separated from action logic via before/after hooks with chain unwinding.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259634" y="1972717"/>
            <a:ext cx="2624584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3421559" y="210919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3504009" y="215681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726359" y="2147292"/>
            <a:ext cx="12646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 Accumulation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421559" y="2388543"/>
            <a:ext cx="2346749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Errors are OR-accumulated, not short-circuited. Parse and execution errors collected for the agent.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011168" y="1972717"/>
            <a:ext cx="2624733" cy="972889"/>
          </a:xfrm>
          <a:prstGeom prst="roundRect">
            <a:avLst>
              <a:gd name="adj" fmla="val 7832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6173093" y="2109192"/>
            <a:ext cx="228600" cy="228600"/>
          </a:xfrm>
          <a:prstGeom prst="roundRect">
            <a:avLst>
              <a:gd name="adj" fmla="val 22222"/>
            </a:avLst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255544" y="2156817"/>
            <a:ext cx="6497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477893" y="2147292"/>
            <a:ext cx="123948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Verification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173093" y="2388543"/>
            <a:ext cx="2346900" cy="420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05"/>
              </a:lnSpc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agents verify all implementations. Test execution built into the workflow, not an afterthought.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81B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01501" cy="5143500"/>
          </a:xfrm>
          <a:prstGeom prst="rect">
            <a:avLst/>
          </a:prstGeom>
          <a:solidFill>
            <a:srgbClr val="B165FB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393390" y="1290786"/>
            <a:ext cx="2357071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800"/>
              </a:spcAft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You!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477792" y="1887587"/>
            <a:ext cx="2188416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0"/>
              </a:spcAft>
              <a:buNone/>
            </a:pPr>
            <a:r>
              <a:rPr lang="en-US" sz="1600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005757" y="2506712"/>
            <a:ext cx="1981795" cy="710952"/>
          </a:xfrm>
          <a:prstGeom prst="roundRect">
            <a:avLst>
              <a:gd name="adj" fmla="val 14291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2254633" y="2693938"/>
            <a:ext cx="148404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Code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254633" y="2897088"/>
            <a:ext cx="148404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github.com/ai-code-assistant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41453" y="2506712"/>
            <a:ext cx="2896791" cy="710952"/>
          </a:xfrm>
          <a:prstGeom prst="roundRect">
            <a:avLst>
              <a:gd name="adj" fmla="val 14291"/>
            </a:avLst>
          </a:prstGeom>
          <a:solidFill>
            <a:srgbClr val="B165FB">
              <a:alpha val="10000"/>
            </a:srgbClr>
          </a:solidFill>
          <a:ln w="9525">
            <a:solidFill>
              <a:srgbClr val="B165F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481179" y="2693938"/>
            <a:ext cx="241733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B165F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Getting Started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481179" y="2897088"/>
            <a:ext cx="241733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 sync &amp;&amp; python test/real_advanced_task.py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08945" y="3598664"/>
            <a:ext cx="628799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2645420" y="3658939"/>
            <a:ext cx="36296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264694" y="3598664"/>
            <a:ext cx="863947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401169" y="3658939"/>
            <a:ext cx="60281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255591" y="3598664"/>
            <a:ext cx="679698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392067" y="3658939"/>
            <a:ext cx="41488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LiteLLM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062240" y="3598664"/>
            <a:ext cx="842516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98715" y="3658939"/>
            <a:ext cx="58095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YAML/XML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031706" y="3598664"/>
            <a:ext cx="603349" cy="253901"/>
          </a:xfrm>
          <a:prstGeom prst="roundRect">
            <a:avLst>
              <a:gd name="adj" fmla="val 20008"/>
            </a:avLst>
          </a:prstGeom>
          <a:solidFill>
            <a:srgbClr val="40695B">
              <a:alpha val="15000"/>
            </a:srgbClr>
          </a:solidFill>
          <a:ln w="9525">
            <a:solidFill>
              <a:srgbClr val="40695B"/>
            </a:solidFill>
          </a:ln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68182" y="3658939"/>
            <a:ext cx="33700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4069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1373</Words>
  <Application>Microsoft Macintosh PowerPoint</Application>
  <PresentationFormat>On-screen Show (16:9)</PresentationFormat>
  <Paragraphs>240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an AI Code Assistant with Deep Agent Architecture</dc:title>
  <dc:subject>PptxGenJS Presentation</dc:subject>
  <dc:creator>AI Code Assistant Course</dc:creator>
  <cp:lastModifiedBy>Alexsandro Souza</cp:lastModifiedBy>
  <cp:revision>2</cp:revision>
  <dcterms:created xsi:type="dcterms:W3CDTF">2026-03-20T19:33:03Z</dcterms:created>
  <dcterms:modified xsi:type="dcterms:W3CDTF">2026-03-20T19:46:33Z</dcterms:modified>
</cp:coreProperties>
</file>